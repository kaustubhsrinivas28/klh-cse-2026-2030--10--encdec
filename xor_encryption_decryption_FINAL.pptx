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DEPARTMENT OF CSE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4-Bit XOR-Based Data Encryption &amp; Decryption Unit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simulation of a purely combinational, gate-level symmetric-key cipher in Logisim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502920"/>
            <a:ext cx="3886200" cy="2441448"/>
          </a:xfrm>
          <a:prstGeom prst="roundRect">
            <a:avLst>
              <a:gd name="adj" fmla="val 3745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</p:sp>
      <p:pic>
        <p:nvPicPr>
          <p:cNvPr id="6" name="Image 0" descr="/home/claude/img/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594360"/>
            <a:ext cx="3703320" cy="22713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1947672" cy="749808"/>
          </a:xfrm>
          <a:prstGeom prst="roundRect">
            <a:avLst>
              <a:gd name="adj" fmla="val 9756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Shreyesh Reddy Gudi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2620030608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51176" y="3429000"/>
            <a:ext cx="1947672" cy="749808"/>
          </a:xfrm>
          <a:prstGeom prst="roundRect">
            <a:avLst>
              <a:gd name="adj" fmla="val 9756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88336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Kaustubha Srinivas Kaseebhotla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688336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2620030601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45152" y="3429000"/>
            <a:ext cx="1947672" cy="749808"/>
          </a:xfrm>
          <a:prstGeom prst="roundRect">
            <a:avLst>
              <a:gd name="adj" fmla="val 9756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82312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Rachuri Harshita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782312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2620030654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39128" y="3429000"/>
            <a:ext cx="1947672" cy="749808"/>
          </a:xfrm>
          <a:prstGeom prst="roundRect">
            <a:avLst>
              <a:gd name="adj" fmla="val 9756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6288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Rudrakashala Harshitha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876288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2620030591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</a:t>
            </a:r>
            <a:pPr indent="0" marL="0">
              <a:buNone/>
            </a:pP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B.Tech CSE · Batch-10 · AY 2026–2030 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University, Hyderabad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2618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124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1417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secures digital data. XOR is a fundamental building block of many ciphers because it is perfectly reversible.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40487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267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2560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&amp; Data Security — bitwise encryption and decryption implemented at the gate level and simulated in Logisim.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54787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410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703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encryption underpins secure embedded systems and the foundations of stream ciphers — turning Boolean algebra into a working circuit.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760720" y="109728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98932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ELEMENT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5989320" y="14996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 gate  ( ⊕ )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9893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TYPE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5989320" y="23225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Purely combinational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(no clock, no memory)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989320" y="2926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WIDTH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5989320" y="31455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4-bit plaintext + 4-bit key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989320" y="3749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5989320" y="39684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 simulation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1887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 </a:t>
            </a:r>
            <a:pPr indent="0" marL="0">
              <a:buNone/>
            </a:pPr>
            <a:r>
              <a:rPr lang="en-US" sz="1450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educational hardware implementation of symmetric encryption — the same key to encrypt and decrypt — built only from basic logic components, without complex algorithms or software libraries.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APPROACHES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9992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demos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7673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gate-level hardware behaviour behind code and libraries.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91840" y="269748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20440" y="2880360"/>
            <a:ext cx="457200" cy="457200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29992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2044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ciphers (AES, DES)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3520440" y="37673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too complex to design, wire and explain within an undergraduate lab.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26480" y="269748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55080" y="2880360"/>
            <a:ext cx="457200" cy="457200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9992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5508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student circuits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355080" y="37673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physical security or encryption alone — no reversible decryption or verification logic.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/ Existing Systems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XOR ciphers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applied in program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write, but offers no hardware insight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ciphers (AES, DES, Blowfish)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multi-round algorithms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gate count; not feasible to hand-wire in a 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LFSR stream ciphers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registers generate a pseudo-random key-stream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flip-flops, memory and a clock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Access-control projects (RFID / keypad)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an entered code with a stored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physical entry only — the data stays unprotected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gate demos (AND / OR / NOT)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Illustrate individual gate 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show reversible crypto; no verification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A4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XOR gates + comparators, purely combinational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A4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Reversible, self-verifying and lab-friendly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A45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4-bit XOR encryptor: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P ⊕ 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30552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95144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2295144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95144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plaintext with the same key: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295144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 ⊕ 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803904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68496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3968496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968496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confirm the output automatically: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968496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== P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77256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41848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5641848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641848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 complete circuit in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41848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150608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truth tables for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&amp; 4-bit cases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38862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constraint:  </a:t>
            </a:r>
            <a:pPr indent="0" marL="0">
              <a:buNone/>
            </a:pPr>
            <a:r>
              <a:rPr lang="en-US" sz="1300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and comparators only — no encoders, decoders or memory elements.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IDENTITY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737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⊕ K) ⊕ K = P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its own inverse, so one shared key both encrypts and decrypts — with perfect recovery of the original plaintext.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49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4-bit symmetric encryption–decryption system built from XOR gates and comparators.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23360" y="109728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1280160"/>
            <a:ext cx="420624" cy="420624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02" y="1389522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06240" y="18105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combinational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4206240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single-bit XOR gates — no clock and no memory anywhere.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0" y="109728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0" y="1280160"/>
            <a:ext cx="420624" cy="420624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042" y="1389522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83680" y="18105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key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583680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key lines drive both the encryption and decryption stages.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023360" y="288036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206240" y="3063240"/>
            <a:ext cx="420624" cy="420624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602" y="3172602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206240" y="3593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self-check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4206240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confirm Decrypted == Plaintext for every test vector.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0" y="288036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83680" y="3063240"/>
            <a:ext cx="420624" cy="420624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042" y="3172602"/>
            <a:ext cx="201900" cy="2019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583680" y="3593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scalable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6583680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Bit-level stages C0–C3 and D0–D3; extendable to 8/16-bit designs.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– P0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828800" y="1691640"/>
            <a:ext cx="310896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185416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85416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ENCRYPT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185416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P ⊕ 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557016" y="1691640"/>
            <a:ext cx="310896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913632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13632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913632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 – C0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285232" y="1691640"/>
            <a:ext cx="310896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641848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41848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DECRYPT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41848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 ⊕ 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013448" y="1691640"/>
            <a:ext cx="310896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370064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70064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370064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 – D0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913632" y="27432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13632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K3 – K0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6572" y="2487168"/>
            <a:ext cx="0" cy="256032"/>
          </a:xfrm>
          <a:prstGeom prst="line">
            <a:avLst/>
          </a:prstGeom>
          <a:noFill/>
          <a:ln w="22225">
            <a:solidFill>
              <a:srgbClr val="E89B2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848356" y="2487168"/>
            <a:ext cx="3456432" cy="0"/>
          </a:xfrm>
          <a:prstGeom prst="line">
            <a:avLst/>
          </a:prstGeom>
          <a:noFill/>
          <a:ln w="22225">
            <a:solidFill>
              <a:srgbClr val="E89B2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2848356" y="2194560"/>
            <a:ext cx="0" cy="292608"/>
          </a:xfrm>
          <a:prstGeom prst="line">
            <a:avLst/>
          </a:prstGeom>
          <a:noFill/>
          <a:ln w="22225">
            <a:solidFill>
              <a:srgbClr val="E89B2F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 flipV="1">
            <a:off x="6304788" y="2194560"/>
            <a:ext cx="0" cy="292608"/>
          </a:xfrm>
          <a:prstGeom prst="line">
            <a:avLst/>
          </a:prstGeom>
          <a:noFill/>
          <a:ln w="22225">
            <a:solidFill>
              <a:srgbClr val="E89B2F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233172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A0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reused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370064" y="27432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70064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= 1 if D = P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033004" y="2194560"/>
            <a:ext cx="0" cy="521208"/>
          </a:xfrm>
          <a:prstGeom prst="line">
            <a:avLst/>
          </a:prstGeom>
          <a:noFill/>
          <a:ln w="22225">
            <a:solidFill>
              <a:srgbClr val="0E1B2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20140" y="2194560"/>
            <a:ext cx="0" cy="150876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20140" y="3703320"/>
            <a:ext cx="6912864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8033004" y="3410712"/>
            <a:ext cx="0" cy="292608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39" name="Text 36"/>
          <p:cNvSpPr txBox="1"/>
          <p:nvPr/>
        </p:nvSpPr>
        <p:spPr>
          <a:xfrm>
            <a:off x="128016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plaintext (reference for verification)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5800" y="400507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algn="ctr" indent="0" marL="0">
              <a:buNone/>
            </a:pPr>
            <a:r>
              <a:rPr lang="en-US" sz="14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its own inverse  →  (P ⊕ K) ⊕ K = 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Implementation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280160" y="1463040"/>
            <a:ext cx="6693408" cy="0"/>
          </a:xfrm>
          <a:prstGeom prst="line">
            <a:avLst/>
          </a:prstGeom>
          <a:noFill/>
          <a:ln w="22225">
            <a:solidFill>
              <a:srgbClr val="D5DE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1188720"/>
            <a:ext cx="548640" cy="548640"/>
          </a:xfrm>
          <a:prstGeom prst="ellipse">
            <a:avLst/>
          </a:prstGeom>
          <a:solidFill>
            <a:srgbClr val="22A45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inputs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P0–P3 (plaintext) and K0–K3 (key)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79192" y="1188720"/>
            <a:ext cx="548640" cy="548640"/>
          </a:xfrm>
          <a:prstGeom prst="ellipse">
            <a:avLst/>
          </a:prstGeom>
          <a:solidFill>
            <a:srgbClr val="22A45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7919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3055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203704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XOR gates: C0 = P0⊕K0 … C3 = P3⊕K3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52544" y="1188720"/>
            <a:ext cx="548640" cy="548640"/>
          </a:xfrm>
          <a:prstGeom prst="ellipse">
            <a:avLst/>
          </a:prstGeom>
          <a:solidFill>
            <a:srgbClr val="22A45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5254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803904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3877056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XOR gates reuse the same key lines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25896" y="1188720"/>
            <a:ext cx="548640" cy="548640"/>
          </a:xfrm>
          <a:prstGeom prst="ellipse">
            <a:avLst/>
          </a:prstGeom>
          <a:solidFill>
            <a:srgbClr val="22A45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2589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77256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5550408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check each decrypted bit against its plaintext bit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99248" y="1188720"/>
            <a:ext cx="548640" cy="548640"/>
          </a:xfrm>
          <a:prstGeom prst="ellipse">
            <a:avLst/>
          </a:prstGeom>
          <a:solidFill>
            <a:srgbClr val="0E1B2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9924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150608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7223760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 P and K live; D always equals P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1089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218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EQUATIONS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⊕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38328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⊕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03504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57200" y="4251960"/>
            <a:ext cx="329184" cy="329184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4337548"/>
            <a:ext cx="158008" cy="158008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14400" y="42519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— Wiring, Gates and Arithmetic libraries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 Implementation — Complete Circuit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02336" y="1362456"/>
            <a:ext cx="5321808" cy="3306470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pic>
        <p:nvPicPr>
          <p:cNvPr id="8" name="Image 1" descr="/home/claude/img/c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212080" cy="319674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0515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837030" y="10515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837030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C0–C3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400654" y="10515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00654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D0–D3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37760" y="10515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937760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00800" y="10515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37960" y="10515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pins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1444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plaintext + 4 key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00800" y="1938528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37960" y="193852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722376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gates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22376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encrypt + 4 decrypt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00800" y="2825496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37960" y="282549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3"/>
          <p:cNvSpPr txBox="1"/>
          <p:nvPr/>
        </p:nvSpPr>
        <p:spPr>
          <a:xfrm>
            <a:off x="7223760" y="2944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223760" y="3218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bit: D vs P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00800" y="3712464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537960" y="371246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1" name="Text 27"/>
          <p:cNvSpPr txBox="1"/>
          <p:nvPr/>
        </p:nvSpPr>
        <p:spPr>
          <a:xfrm>
            <a:off x="7223760" y="38313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223760" y="4105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clock, no memory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Bit-by-Bit Verification in Simulation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14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</a:t>
            </a:r>
            <a:pPr indent="0" marL="0">
              <a:buNone/>
            </a:pPr>
            <a:r>
              <a:rPr lang="en-US" sz="10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on Bit 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0624" y="1225296"/>
            <a:ext cx="2633472" cy="1590379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pic>
        <p:nvPicPr>
          <p:cNvPr id="9" name="Image 1" descr="/home/claude/img/c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2560320" cy="15172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46120" y="1014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</a:t>
            </a:r>
            <a:pPr indent="0" marL="0">
              <a:buNone/>
            </a:pPr>
            <a:r>
              <a:rPr lang="en-US" sz="10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on Bit 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9544" y="1225296"/>
            <a:ext cx="2633472" cy="1590379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pic>
        <p:nvPicPr>
          <p:cNvPr id="12" name="Image 2" descr="/home/claude/img/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261872"/>
            <a:ext cx="2560320" cy="151722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284310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</a:t>
            </a:r>
            <a:pPr indent="0" marL="0">
              <a:buNone/>
            </a:pPr>
            <a:r>
              <a:rPr lang="en-US" sz="10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on Bit 2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20624" y="3053419"/>
            <a:ext cx="2633472" cy="1590379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pic>
        <p:nvPicPr>
          <p:cNvPr id="15" name="Image 3" descr="/home/claude/img/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89995"/>
            <a:ext cx="2560320" cy="151722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246120" y="284310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 </a:t>
            </a:r>
            <a:pPr indent="0" marL="0">
              <a:buNone/>
            </a:pPr>
            <a:r>
              <a:rPr lang="en-US" sz="10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on Bit 3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209544" y="3053419"/>
            <a:ext cx="2633472" cy="1590379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pic>
        <p:nvPicPr>
          <p:cNvPr id="18" name="Image 4" descr="/home/claude/img/c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3089995"/>
            <a:ext cx="2560320" cy="151722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172200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verified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172200" y="1508760"/>
            <a:ext cx="384048" cy="384048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052" y="1608612"/>
            <a:ext cx="184343" cy="184343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675120" y="1490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bit at a time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6675120" y="17647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comparator is wired to the plaintext and decrypted line of each bit in turn.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6172200" y="2532888"/>
            <a:ext cx="384048" cy="384048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052" y="2632740"/>
            <a:ext cx="184343" cy="184343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675120" y="2514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output = match</a:t>
            </a:r>
            <a:endParaRPr lang="en-US" sz="1250" dirty="0"/>
          </a:p>
        </p:txBody>
      </p:sp>
      <p:sp>
        <p:nvSpPr>
          <p:cNvPr id="27" name="Text 18"/>
          <p:cNvSpPr txBox="1"/>
          <p:nvPr/>
        </p:nvSpPr>
        <p:spPr>
          <a:xfrm>
            <a:off x="667512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comparator output confirms that bit survives the round trip.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6172200" y="3557016"/>
            <a:ext cx="384048" cy="384048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052" y="3656868"/>
            <a:ext cx="184343" cy="184343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67512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result</a:t>
            </a:r>
            <a:endParaRPr lang="en-US" sz="1250" dirty="0"/>
          </a:p>
        </p:txBody>
      </p:sp>
      <p:sp>
        <p:nvSpPr>
          <p:cNvPr id="31" name="Text 21"/>
          <p:cNvSpPr txBox="1"/>
          <p:nvPr/>
        </p:nvSpPr>
        <p:spPr>
          <a:xfrm>
            <a:off x="6675120" y="38130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comparators run together in the final build (previous slide).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Truth Table &amp; Test Vector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encrypt / decrypt round trip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960120"/>
                <a:gridCol w="960120"/>
                <a:gridCol w="914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P⊕K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C⊕K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A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A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A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A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row, D reproduces P exactly.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051560"/>
            <a:ext cx="3931920" cy="3520440"/>
          </a:xfrm>
          <a:prstGeom prst="roundRect">
            <a:avLst>
              <a:gd name="adj" fmla="val 20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98348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4-bit test vector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46520" y="160020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876288" y="160020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76288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306056" y="160020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06056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735824" y="160020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35824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983480" y="21305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6144768" y="213055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446520" y="2130552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46520" y="2130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876288" y="2130552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76288" y="2130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7306056" y="2130552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06056" y="2130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735824" y="2130552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735824" y="2130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4983480" y="26609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C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446520" y="2660904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446520" y="2660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6876288" y="2660904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876288" y="2660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7306056" y="2660904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306056" y="2660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7735824" y="2660904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735824" y="2660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4983480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</a:t>
            </a:r>
            <a:endParaRPr lang="en-US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6144768" y="319125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6446520" y="3191256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446520" y="31912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Shape 40"/>
          <p:cNvSpPr/>
          <p:nvPr/>
        </p:nvSpPr>
        <p:spPr>
          <a:xfrm>
            <a:off x="6876288" y="3191256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876288" y="31912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Shape 42"/>
          <p:cNvSpPr/>
          <p:nvPr/>
        </p:nvSpPr>
        <p:spPr>
          <a:xfrm>
            <a:off x="7306056" y="3191256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306056" y="31912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7735824" y="3191256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7735824" y="31912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0" name="Text 46"/>
          <p:cNvSpPr txBox="1"/>
          <p:nvPr/>
        </p:nvSpPr>
        <p:spPr>
          <a:xfrm>
            <a:off x="4983480" y="3721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D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6446520" y="3721608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446520" y="37216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3" name="Shape 49"/>
          <p:cNvSpPr/>
          <p:nvPr/>
        </p:nvSpPr>
        <p:spPr>
          <a:xfrm>
            <a:off x="6876288" y="3721608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876288" y="37216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5" name="Shape 51"/>
          <p:cNvSpPr/>
          <p:nvPr/>
        </p:nvSpPr>
        <p:spPr>
          <a:xfrm>
            <a:off x="7306056" y="3721608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7306056" y="37216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7" name="Shape 53"/>
          <p:cNvSpPr/>
          <p:nvPr/>
        </p:nvSpPr>
        <p:spPr>
          <a:xfrm>
            <a:off x="7735824" y="3721608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7735824" y="37216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Shape 55"/>
          <p:cNvSpPr/>
          <p:nvPr/>
        </p:nvSpPr>
        <p:spPr>
          <a:xfrm>
            <a:off x="4983480" y="4297680"/>
            <a:ext cx="3474720" cy="164592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40080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 = P  →  MATCH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combinations of P and K recovered perfectly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6032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gates form the complete cipher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bit-wise comparators give instant feedback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flip-flops, clocks or memory elements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108960"/>
            <a:ext cx="402336" cy="402336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07" y="3213567"/>
            <a:ext cx="193121" cy="19312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344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3611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tested combination, the decrypted output D exactly reproduced the plaintext P and the MATCH output stayed high — confirming correctness at the gate level.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577840" y="292608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806440" y="3108960"/>
            <a:ext cx="402336" cy="402336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047" y="3213567"/>
            <a:ext cx="193121" cy="19312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35508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806440" y="3611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single-round cipher, not production-grade: reusing one key across messages would be vulnerable.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44475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78" y="1520830"/>
            <a:ext cx="140452" cy="1404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6112" y="1417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simulated a complete 4-bit symmetric XOR cipher in Logisim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" y="199339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" y="2069470"/>
            <a:ext cx="140452" cy="14045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" y="1965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(P ⊕ K) ⊕ K = P across all tested vectors — perfect recovery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7200" y="254203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2618110"/>
            <a:ext cx="140452" cy="14045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96112" y="2514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comparators for real-time correctness feedback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57200" y="309067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8" y="3166750"/>
            <a:ext cx="140452" cy="14045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96112" y="30632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behaviour with truth tables and worked test cases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457200" y="363931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78" y="3715390"/>
            <a:ext cx="140452" cy="14045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96112" y="36118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design minimal: no encoders, decoders or memory</a:t>
            </a:r>
            <a:endParaRPr lang="en-US" sz="1250" dirty="0"/>
          </a:p>
        </p:txBody>
      </p:sp>
      <p:sp>
        <p:nvSpPr>
          <p:cNvPr id="21" name="Text 13"/>
          <p:cNvSpPr txBox="1"/>
          <p:nvPr/>
        </p:nvSpPr>
        <p:spPr>
          <a:xfrm>
            <a:off x="566928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9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5669280" y="14173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5824728" y="1591056"/>
            <a:ext cx="420624" cy="420624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090" y="1700418"/>
            <a:ext cx="201900" cy="2019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00800" y="1527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data path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6400800" y="1819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8- or 16-bit words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5669280" y="2313432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5824728" y="2487168"/>
            <a:ext cx="420624" cy="420624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4090" y="2596530"/>
            <a:ext cx="201900" cy="2019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4008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Pseudo-random keys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6400800" y="2715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key generator or key schedule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5669280" y="3209544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5824728" y="3383280"/>
            <a:ext cx="420624" cy="420624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4090" y="3492642"/>
            <a:ext cx="201900" cy="2019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400800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64008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as a module in larger designs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stated objectives were fulfilled — the circuit is ready for demonstration and further academic exploration.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822960"/>
            <a:ext cx="822960" cy="822960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490" y="103693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4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⊕ K) ⊕ K = 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Shreyesh Reddy Gudi  ·  Kaustubha Srinivas Kaseebhotla  ·  Rachuri Harshita  ·  Rudrakashala Harshitha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Kartheek  ·  Computer Science and Engineering, KL University, Hyderabad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XOR-Based Encryption &amp; Decryption Unit</dc:title>
  <dc:subject>PptxGenJS Presentation</dc:subject>
  <dc:creator>PptxGenJS</dc:creator>
  <cp:lastModifiedBy>PptxGenJS</cp:lastModifiedBy>
  <cp:revision>1</cp:revision>
  <dcterms:created xsi:type="dcterms:W3CDTF">2026-09-19T07:23:42Z</dcterms:created>
  <dcterms:modified xsi:type="dcterms:W3CDTF">2026-09-19T07:23:42Z</dcterms:modified>
</cp:coreProperties>
</file>